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Urbanist Medium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22AFF0-5F3D-4E7C-BDCC-04D29B855495}">
  <a:tblStyle styleId="{C122AFF0-5F3D-4E7C-BDCC-04D29B85549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UrbanistMedium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Medium-italic.fntdata"/><Relationship Id="rId25" Type="http://schemas.openxmlformats.org/officeDocument/2006/relationships/font" Target="fonts/UrbanistMedium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f641e6643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f641e66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e5bfa909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ee5bfa9091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e5bfa909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ee5bfa9091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e5bfa909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ee5bfa9091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e5bfa909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ee5bfa9091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e5bfa909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ee5bfa9091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3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figma.com/make/x16eMB7RUZ6Gl4cCbZyank/Edificio-mirador?t=Uz3Q4fFUDb0MnOh5-1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5" Type="http://schemas.openxmlformats.org/officeDocument/2006/relationships/image" Target="../media/image30.png"/><Relationship Id="rId6" Type="http://schemas.openxmlformats.org/officeDocument/2006/relationships/image" Target="../media/image22.png"/><Relationship Id="rId7" Type="http://schemas.openxmlformats.org/officeDocument/2006/relationships/image" Target="../media/image29.png"/><Relationship Id="rId8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3.png"/><Relationship Id="rId5" Type="http://schemas.openxmlformats.org/officeDocument/2006/relationships/image" Target="../media/image35.png"/><Relationship Id="rId6" Type="http://schemas.openxmlformats.org/officeDocument/2006/relationships/image" Target="../media/image31.png"/><Relationship Id="rId7" Type="http://schemas.openxmlformats.org/officeDocument/2006/relationships/image" Target="../media/image37.png"/><Relationship Id="rId8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36.png"/><Relationship Id="rId7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662362" y="4000500"/>
            <a:ext cx="48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Prototipado Funcional y Validación de Arquitectura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662362" y="4286250"/>
            <a:ext cx="48672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S.G.R.E. - Sistema de Gestión Residencial del Edificio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629025" y="2286000"/>
            <a:ext cx="4933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PRESENTACIÓN DE PROTOTIPO Y CALIDAD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835592" y="2762250"/>
            <a:ext cx="652081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Edificio El Mirador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38312"/>
            <a:ext cx="5334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1738312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Figma como Eje Creativo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205037"/>
            <a:ext cx="5334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 seleccionó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Figma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como herramienta principal para la construcción de interfaces navegables por las siguientes ventajas competitivas: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747837"/>
            <a:ext cx="5314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04875" y="3300412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Colaboración en Tiempo Real: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Facilitó el trabajo simultáneo del equipo de diseño y desarrollo.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04875" y="4014787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Prototipado Navegable: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Permite validar flujos lógicos sin requerir un backend activo.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04875" y="4729162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Soporte para Código: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Generación de activos HTML/CSS que aceleran la fase de codificación.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4327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5765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772025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Estrategia de Prototipado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76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48600" y="3051263"/>
            <a:ext cx="52008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Mockups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1719050"/>
            <a:ext cx="52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46025" y="2459825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12675" y="3200600"/>
            <a:ext cx="461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61963" y="3848100"/>
            <a:ext cx="461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62013" y="4791475"/>
            <a:ext cx="461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/>
          <p:nvPr/>
        </p:nvSpPr>
        <p:spPr>
          <a:xfrm>
            <a:off x="3042150" y="1690800"/>
            <a:ext cx="6107700" cy="347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4101300" y="3001500"/>
            <a:ext cx="3989400" cy="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ENLACE PARA FIGMA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3625691" y="3000375"/>
            <a:ext cx="494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2412200" y="4321575"/>
            <a:ext cx="762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0292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Página de inicio</a:t>
            </a:r>
            <a:endParaRPr/>
          </a:p>
        </p:txBody>
      </p:sp>
      <p:pic>
        <p:nvPicPr>
          <p:cNvPr id="131" name="Google Shape;13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463" y="1634275"/>
            <a:ext cx="10391475" cy="441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3914500" y="577000"/>
            <a:ext cx="47427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0292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DAFFDE"/>
                </a:solidFill>
              </a:rPr>
              <a:t>Página de inicio</a:t>
            </a:r>
            <a:endParaRPr sz="48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3625691" y="3000375"/>
            <a:ext cx="494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2412200" y="4321575"/>
            <a:ext cx="762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0292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</a:rPr>
              <a:t>Página de inicio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3625700" y="0"/>
            <a:ext cx="65760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0292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DAFFDE"/>
                </a:solidFill>
                <a:latin typeface="Calibri"/>
                <a:ea typeface="Calibri"/>
                <a:cs typeface="Calibri"/>
                <a:sym typeface="Calibri"/>
              </a:rPr>
              <a:t>Inicio de sesión</a:t>
            </a:r>
            <a:endParaRPr sz="51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0413" y="937638"/>
            <a:ext cx="5743575" cy="530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3625691" y="3000375"/>
            <a:ext cx="494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2412200" y="4321575"/>
            <a:ext cx="762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0292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</a:rPr>
              <a:t>Página de inicio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3914500" y="577000"/>
            <a:ext cx="47427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0292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DAFFDE"/>
                </a:solidFill>
              </a:rPr>
              <a:t>Panel administrador</a:t>
            </a:r>
            <a:endParaRPr sz="4800">
              <a:solidFill>
                <a:srgbClr val="DAFFD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8384" y="1385675"/>
            <a:ext cx="9695250" cy="45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0"/>
          <p:cNvSpPr txBox="1"/>
          <p:nvPr/>
        </p:nvSpPr>
        <p:spPr>
          <a:xfrm>
            <a:off x="3625691" y="3000375"/>
            <a:ext cx="494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2412200" y="4321575"/>
            <a:ext cx="762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0292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</a:rPr>
              <a:t>Página de inicio</a:t>
            </a:r>
            <a:endParaRPr/>
          </a:p>
        </p:txBody>
      </p:sp>
      <p:sp>
        <p:nvSpPr>
          <p:cNvPr id="158" name="Google Shape;158;p20"/>
          <p:cNvSpPr txBox="1"/>
          <p:nvPr/>
        </p:nvSpPr>
        <p:spPr>
          <a:xfrm>
            <a:off x="3914500" y="577000"/>
            <a:ext cx="47427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0292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DAFFDE"/>
                </a:solidFill>
              </a:rPr>
              <a:t>Gestión</a:t>
            </a:r>
            <a:r>
              <a:rPr lang="en-US" sz="2800">
                <a:solidFill>
                  <a:srgbClr val="DAFFDE"/>
                </a:solidFill>
              </a:rPr>
              <a:t> de usuarios</a:t>
            </a:r>
            <a:endParaRPr sz="2800">
              <a:solidFill>
                <a:srgbClr val="DAFFDE"/>
              </a:solidFill>
            </a:endParaRPr>
          </a:p>
          <a:p>
            <a:pPr indent="0" lvl="0" marL="50292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DAFFDE"/>
              </a:solidFill>
            </a:endParaRPr>
          </a:p>
        </p:txBody>
      </p:sp>
      <p:pic>
        <p:nvPicPr>
          <p:cNvPr id="159" name="Google Shape;15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550" y="1604675"/>
            <a:ext cx="11308900" cy="42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/>
          <p:nvPr/>
        </p:nvSpPr>
        <p:spPr>
          <a:xfrm>
            <a:off x="3625691" y="3000375"/>
            <a:ext cx="494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2412200" y="4321575"/>
            <a:ext cx="762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0292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</a:rPr>
              <a:t>Página de inicio</a:t>
            </a:r>
            <a:endParaRPr/>
          </a:p>
        </p:txBody>
      </p:sp>
      <p:sp>
        <p:nvSpPr>
          <p:cNvPr id="167" name="Google Shape;167;p21"/>
          <p:cNvSpPr txBox="1"/>
          <p:nvPr/>
        </p:nvSpPr>
        <p:spPr>
          <a:xfrm>
            <a:off x="733300" y="657675"/>
            <a:ext cx="47427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0292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DAFFDE"/>
                </a:solidFill>
              </a:rPr>
              <a:t>Editor</a:t>
            </a:r>
            <a:r>
              <a:rPr lang="en-US" sz="2800">
                <a:solidFill>
                  <a:srgbClr val="DAFFDE"/>
                </a:solidFill>
              </a:rPr>
              <a:t> de usuarios</a:t>
            </a:r>
            <a:endParaRPr sz="2800">
              <a:solidFill>
                <a:srgbClr val="DAFFDE"/>
              </a:solidFill>
            </a:endParaRPr>
          </a:p>
          <a:p>
            <a:pPr indent="0" lvl="0" marL="50292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DAFFDE"/>
              </a:solidFill>
            </a:endParaRPr>
          </a:p>
        </p:txBody>
      </p:sp>
      <p:pic>
        <p:nvPicPr>
          <p:cNvPr id="168" name="Google Shape;168;p21"/>
          <p:cNvPicPr preferRelativeResize="0"/>
          <p:nvPr/>
        </p:nvPicPr>
        <p:blipFill rotWithShape="1">
          <a:blip r:embed="rId4">
            <a:alphaModFix/>
          </a:blip>
          <a:srcRect b="-3434" l="-17853" r="14419" t="0"/>
          <a:stretch/>
        </p:blipFill>
        <p:spPr>
          <a:xfrm>
            <a:off x="-556825" y="1690375"/>
            <a:ext cx="5940549" cy="461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 txBox="1"/>
          <p:nvPr/>
        </p:nvSpPr>
        <p:spPr>
          <a:xfrm>
            <a:off x="6648750" y="729400"/>
            <a:ext cx="47427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0292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DAFFDE"/>
                </a:solidFill>
              </a:rPr>
              <a:t>Nuevo usuario</a:t>
            </a:r>
            <a:endParaRPr sz="2800">
              <a:solidFill>
                <a:srgbClr val="DAFFDE"/>
              </a:solidFill>
            </a:endParaRPr>
          </a:p>
          <a:p>
            <a:pPr indent="0" lvl="0" marL="50292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DAFFDE"/>
              </a:solidFill>
            </a:endParaRPr>
          </a:p>
        </p:txBody>
      </p:sp>
      <p:pic>
        <p:nvPicPr>
          <p:cNvPr id="170" name="Google Shape;17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9225" y="1690376"/>
            <a:ext cx="5542224" cy="442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0325"/>
            <a:ext cx="352425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600325"/>
            <a:ext cx="352425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600325"/>
            <a:ext cx="3524250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2"/>
          <p:cNvSpPr txBox="1"/>
          <p:nvPr/>
        </p:nvSpPr>
        <p:spPr>
          <a:xfrm>
            <a:off x="866775" y="3543300"/>
            <a:ext cx="30803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Gestión de Usuarios</a:t>
            </a:r>
            <a:endParaRPr/>
          </a:p>
        </p:txBody>
      </p:sp>
      <p:sp>
        <p:nvSpPr>
          <p:cNvPr id="180" name="Google Shape;180;p22"/>
          <p:cNvSpPr txBox="1"/>
          <p:nvPr/>
        </p:nvSpPr>
        <p:spPr>
          <a:xfrm>
            <a:off x="866775" y="4010025"/>
            <a:ext cx="2933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Registro, actualización y desactivación lógica de los 160 perfiles del edificio.</a:t>
            </a:r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4629150" y="3543300"/>
            <a:ext cx="30803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Módulo Financiero</a:t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4629150" y="4010025"/>
            <a:ext cx="2933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Cálculo automático de cuotas y gestión de gastos extraordinarios.</a:t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8391525" y="3543300"/>
            <a:ext cx="30803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Notificaciones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8391525" y="4010025"/>
            <a:ext cx="2933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Alertas programadas para eventos de cobranza y mantenimientos.</a:t>
            </a:r>
            <a:endParaRPr/>
          </a:p>
        </p:txBody>
      </p:sp>
      <p:pic>
        <p:nvPicPr>
          <p:cNvPr descr="image.png" id="185" name="Google Shape;18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9241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29150" y="292417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91525" y="292417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Calidad: Requisitos Funcionales</a:t>
            </a:r>
            <a:endParaRPr/>
          </a:p>
        </p:txBody>
      </p:sp>
      <p:sp>
        <p:nvSpPr>
          <p:cNvPr id="189" name="Google Shape;189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7290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5" name="Google Shape;195;p23"/>
          <p:cNvGraphicFramePr/>
          <p:nvPr/>
        </p:nvGraphicFramePr>
        <p:xfrm>
          <a:off x="571500" y="6959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{C122AFF0-5F3D-4E7C-BDCC-04D29B855495}</a:tableStyleId>
              </a:tblPr>
              <a:tblGrid>
                <a:gridCol w="1845425"/>
                <a:gridCol w="3040800"/>
                <a:gridCol w="6082075"/>
              </a:tblGrid>
              <a:tr h="63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Atributo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Métrica de Cumplimiento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Propósito para el Usuario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63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Rendimiento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Respuesta &lt; 3 segundos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Fluidez en la consulta de gastos comunes.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Disponibilidad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Uptime de 99% mensual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Acceso garantizado para pagos en cualquier momento.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Seguridad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Control RBAC (Roles)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Protección de datos financieros sensibles.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Usabilidad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90% Heurísticas Nielsen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Curva de aprendizaje mínima para residentes.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Accesibilidad </a:t>
                      </a:r>
                      <a:endParaRPr b="1" i="0" sz="1500" cap="none" strike="noStrike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5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Cumplimiento total de las pautas WCAG 2.1 nivel AA</a:t>
                      </a:r>
                      <a:endParaRPr i="0" sz="1900" cap="none" strike="noStrike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50">
                          <a:latin typeface="Arial"/>
                          <a:ea typeface="Arial"/>
                          <a:cs typeface="Arial"/>
                          <a:sym typeface="Arial"/>
                        </a:rPr>
                        <a:t>Asegurar el uso por personas con distintas capacidades</a:t>
                      </a:r>
                      <a:endParaRPr b="0" i="0" sz="2000" cap="none" strike="noStrike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Seguridad</a:t>
                      </a:r>
                      <a:endParaRPr b="1" sz="150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5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100% de las operaciones críticas deben quedar registradas en el log de auditoría</a:t>
                      </a:r>
                      <a:endParaRPr sz="155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>
                          <a:latin typeface="Arial"/>
                          <a:ea typeface="Arial"/>
                          <a:cs typeface="Arial"/>
                          <a:sym typeface="Arial"/>
                        </a:rPr>
                        <a:t>Proteger la </a:t>
                      </a:r>
                      <a:r>
                        <a:rPr lang="en-US" sz="1550">
                          <a:latin typeface="Arial"/>
                          <a:ea typeface="Arial"/>
                          <a:cs typeface="Arial"/>
                          <a:sym typeface="Arial"/>
                        </a:rPr>
                        <a:t>información</a:t>
                      </a:r>
                      <a:r>
                        <a:rPr lang="en-US" sz="155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550">
                          <a:latin typeface="Arial"/>
                          <a:ea typeface="Arial"/>
                          <a:cs typeface="Arial"/>
                          <a:sym typeface="Arial"/>
                        </a:rPr>
                        <a:t>crítica</a:t>
                      </a:r>
                      <a:r>
                        <a:rPr lang="en-US" sz="1550">
                          <a:latin typeface="Arial"/>
                          <a:ea typeface="Arial"/>
                          <a:cs typeface="Arial"/>
                          <a:sym typeface="Arial"/>
                        </a:rPr>
                        <a:t> de los usuarios</a:t>
                      </a:r>
                      <a:endParaRPr sz="15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5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450">
                          <a:latin typeface="Arial"/>
                          <a:ea typeface="Arial"/>
                          <a:cs typeface="Arial"/>
                          <a:sym typeface="Arial"/>
                        </a:rPr>
                        <a:t>Confiabilidad</a:t>
                      </a:r>
                      <a:endParaRPr b="1" sz="190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0% de pérdida de datos financieros tras una falla del sistema.</a:t>
                      </a:r>
                      <a:endParaRPr sz="135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50">
                          <a:latin typeface="Arial"/>
                          <a:ea typeface="Arial"/>
                          <a:cs typeface="Arial"/>
                          <a:sym typeface="Arial"/>
                        </a:rPr>
                        <a:t>Restauraciones de base de datos para verificar la integridad de la información almacenada.</a:t>
                      </a:r>
                      <a:endParaRPr sz="19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5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350">
                          <a:latin typeface="Arial"/>
                          <a:ea typeface="Arial"/>
                          <a:cs typeface="Arial"/>
                          <a:sym typeface="Arial"/>
                        </a:rPr>
                        <a:t>Portabilidad</a:t>
                      </a:r>
                      <a:endParaRPr b="1" sz="13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5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100% de los navegadores modernos (y dispositivos móviles (Android/iOS).</a:t>
                      </a:r>
                      <a:endParaRPr sz="125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latin typeface="Arial"/>
                          <a:ea typeface="Arial"/>
                          <a:cs typeface="Arial"/>
                          <a:sym typeface="Arial"/>
                        </a:rPr>
                        <a:t>Poder entrar desde donde quieran al software</a:t>
                      </a:r>
                      <a:endParaRPr sz="14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5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50">
                          <a:latin typeface="Arial"/>
                          <a:ea typeface="Arial"/>
                          <a:cs typeface="Arial"/>
                          <a:sym typeface="Arial"/>
                        </a:rPr>
                        <a:t>Calidad de Datos</a:t>
                      </a:r>
                      <a:endParaRPr b="1" sz="13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>
                          <a:latin typeface="Arial"/>
                          <a:ea typeface="Arial"/>
                          <a:cs typeface="Arial"/>
                          <a:sym typeface="Arial"/>
                        </a:rPr>
                        <a:t>rechazar el </a:t>
                      </a:r>
                      <a:r>
                        <a:rPr b="1" lang="en-US" sz="1050">
                          <a:latin typeface="Arial"/>
                          <a:ea typeface="Arial"/>
                          <a:cs typeface="Arial"/>
                          <a:sym typeface="Arial"/>
                        </a:rPr>
                        <a:t>100% de los ingresos de RUT duplicados</a:t>
                      </a:r>
                      <a:r>
                        <a:rPr lang="en-US" sz="1050">
                          <a:latin typeface="Arial"/>
                          <a:ea typeface="Arial"/>
                          <a:cs typeface="Arial"/>
                          <a:sym typeface="Arial"/>
                        </a:rPr>
                        <a:t> y campos obligatorios vacíos.</a:t>
                      </a:r>
                      <a:endParaRPr sz="10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5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latin typeface="Arial"/>
                          <a:ea typeface="Arial"/>
                          <a:cs typeface="Arial"/>
                          <a:sym typeface="Arial"/>
                        </a:rPr>
                        <a:t>Mantener el correcto funcionamiento del software y la </a:t>
                      </a:r>
                      <a:r>
                        <a:rPr lang="en-US" sz="1450">
                          <a:latin typeface="Arial"/>
                          <a:ea typeface="Arial"/>
                          <a:cs typeface="Arial"/>
                          <a:sym typeface="Arial"/>
                        </a:rPr>
                        <a:t>identificación</a:t>
                      </a:r>
                      <a:r>
                        <a:rPr lang="en-US" sz="1450">
                          <a:latin typeface="Arial"/>
                          <a:ea typeface="Arial"/>
                          <a:cs typeface="Arial"/>
                          <a:sym typeface="Arial"/>
                        </a:rPr>
                        <a:t> correcta de los usuarios</a:t>
                      </a:r>
                      <a:endParaRPr sz="14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6" name="Google Shape;196;p23"/>
          <p:cNvSpPr/>
          <p:nvPr/>
        </p:nvSpPr>
        <p:spPr>
          <a:xfrm>
            <a:off x="571500" y="3081337"/>
            <a:ext cx="1859012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2430512" y="3081337"/>
            <a:ext cx="306318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5493692" y="3081337"/>
            <a:ext cx="6126807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571500" y="3676650"/>
            <a:ext cx="1859012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2430512" y="3676650"/>
            <a:ext cx="3063180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5493692" y="3676650"/>
            <a:ext cx="6126807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571500" y="4257675"/>
            <a:ext cx="1859012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2430512" y="4257675"/>
            <a:ext cx="3063180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5493692" y="4257675"/>
            <a:ext cx="6126807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571500" y="4919925"/>
            <a:ext cx="18591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2430512" y="4919925"/>
            <a:ext cx="3063300" cy="960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5493692" y="4838700"/>
            <a:ext cx="6126807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571500" y="5419725"/>
            <a:ext cx="1859012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2430512" y="5419725"/>
            <a:ext cx="3063180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5493692" y="5419725"/>
            <a:ext cx="6126807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571500" y="72525"/>
            <a:ext cx="11351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Calidad: Atributos Técnicos (RNF)</a:t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495300" y="74663"/>
            <a:ext cx="76200" cy="619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3300" y="1738312"/>
            <a:ext cx="42672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571500" y="1738312"/>
            <a:ext cx="67208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H1 a H10: Diagnóstico de Usabilidad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571500" y="2205037"/>
            <a:ext cx="6400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 aplicó una inspección experta basada en los 10 principios de Nielsen:</a:t>
            </a:r>
            <a:endParaRPr/>
          </a:p>
        </p:txBody>
      </p:sp>
      <p:pic>
        <p:nvPicPr>
          <p:cNvPr descr="image.png" id="221" name="Google Shape;22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2825" y="1747837"/>
            <a:ext cx="42481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4"/>
          <p:cNvSpPr txBox="1"/>
          <p:nvPr/>
        </p:nvSpPr>
        <p:spPr>
          <a:xfrm>
            <a:off x="904875" y="2490787"/>
            <a:ext cx="60674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Visibilidad del Estado: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Notificaciones de éxito/error.</a:t>
            </a:r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904875" y="2919412"/>
            <a:ext cx="60674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Consistencia: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Estándares visuales unificados.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904875" y="3348037"/>
            <a:ext cx="60674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Ayuda y Errores: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Mensajes claros de recuperación.</a:t>
            </a:r>
            <a:endParaRPr/>
          </a:p>
        </p:txBody>
      </p:sp>
      <p:pic>
        <p:nvPicPr>
          <p:cNvPr descr="image.png" id="225" name="Google Shape;22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33650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96227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390900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Evaluación de Nielsen</a:t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58525" y="1350150"/>
            <a:ext cx="5175299" cy="473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28987"/>
            <a:ext cx="1104900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57612"/>
            <a:ext cx="11049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86237"/>
            <a:ext cx="11049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43250" y="3757612"/>
            <a:ext cx="790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43250" y="4186237"/>
            <a:ext cx="790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/>
        </p:nvSpPr>
        <p:spPr>
          <a:xfrm>
            <a:off x="571500" y="2576512"/>
            <a:ext cx="116014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Distribución de Severidad en Hallazgos</a:t>
            </a:r>
            <a:endParaRPr/>
          </a:p>
        </p:txBody>
      </p:sp>
      <p:sp>
        <p:nvSpPr>
          <p:cNvPr id="242" name="Google Shape;242;p25"/>
          <p:cNvSpPr txBox="1"/>
          <p:nvPr/>
        </p:nvSpPr>
        <p:spPr>
          <a:xfrm>
            <a:off x="571500" y="4900612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Promedio General de Severidad: </a:t>
            </a:r>
            <a:r>
              <a:rPr b="1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2,</a:t>
            </a:r>
            <a:r>
              <a:rPr b="1" i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Indica un sistema funcional con oportunidades de optimización en experiencia de usuario.</a:t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11144250" y="3810000"/>
            <a:ext cx="476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5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11144250" y="4238625"/>
            <a:ext cx="476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1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Métricas de Evaluación Heurística</a:t>
            </a:r>
            <a:endParaRPr/>
          </a:p>
        </p:txBody>
      </p:sp>
      <p:sp>
        <p:nvSpPr>
          <p:cNvPr id="246" name="Google Shape;246;p2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6"/>
          <p:cNvSpPr txBox="1"/>
          <p:nvPr/>
        </p:nvSpPr>
        <p:spPr>
          <a:xfrm>
            <a:off x="571500" y="2790825"/>
            <a:ext cx="116014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Cambios Implementados Post-Evaluación</a:t>
            </a:r>
            <a:endParaRPr/>
          </a:p>
        </p:txBody>
      </p:sp>
      <p:sp>
        <p:nvSpPr>
          <p:cNvPr id="253" name="Google Shape;253;p26"/>
          <p:cNvSpPr txBox="1"/>
          <p:nvPr/>
        </p:nvSpPr>
        <p:spPr>
          <a:xfrm>
            <a:off x="904875" y="3257550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Refuerzo de Retroalimentación: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Se agregaron diálogos de confirmación antes de desactivaciones críticas.</a:t>
            </a:r>
            <a:endParaRPr/>
          </a:p>
        </p:txBody>
      </p:sp>
      <p:sp>
        <p:nvSpPr>
          <p:cNvPr id="254" name="Google Shape;254;p26"/>
          <p:cNvSpPr txBox="1"/>
          <p:nvPr/>
        </p:nvSpPr>
        <p:spPr>
          <a:xfrm>
            <a:off x="904875" y="3686175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Optimización de Filtros: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Mejora en la búsqueda de residentes morosos por RUT.</a:t>
            </a:r>
            <a:endParaRPr/>
          </a:p>
        </p:txBody>
      </p:sp>
      <p:sp>
        <p:nvSpPr>
          <p:cNvPr id="255" name="Google Shape;255;p26"/>
          <p:cNvSpPr txBox="1"/>
          <p:nvPr/>
        </p:nvSpPr>
        <p:spPr>
          <a:xfrm>
            <a:off x="904875" y="4114800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Prevención de Errores: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Validación en tiempo real de campos obligatorios para evitar envíos incompletos.</a:t>
            </a: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904875" y="4543425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Estética Minimalista: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Reducción de carga visual en el dashboard de administrador.</a:t>
            </a:r>
            <a:endParaRPr/>
          </a:p>
        </p:txBody>
      </p:sp>
      <p:pic>
        <p:nvPicPr>
          <p:cNvPr descr="image.png" id="257" name="Google Shape;25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004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290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576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86287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Mejora Continua del Prototipo</a:t>
            </a:r>
            <a:endParaRPr/>
          </a:p>
        </p:txBody>
      </p:sp>
      <p:sp>
        <p:nvSpPr>
          <p:cNvPr id="262" name="Google Shape;262;p2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38312"/>
            <a:ext cx="5334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7"/>
          <p:cNvSpPr txBox="1"/>
          <p:nvPr/>
        </p:nvSpPr>
        <p:spPr>
          <a:xfrm>
            <a:off x="571500" y="1738312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Técnica y Herramientas</a:t>
            </a:r>
            <a:endParaRPr/>
          </a:p>
        </p:txBody>
      </p:sp>
      <p:sp>
        <p:nvSpPr>
          <p:cNvPr id="270" name="Google Shape;270;p27"/>
          <p:cNvSpPr txBox="1"/>
          <p:nvPr/>
        </p:nvSpPr>
        <p:spPr>
          <a:xfrm>
            <a:off x="571500" y="2205037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Para garantizar la trazabilidad y seguridad del código y diseños, se implementó:</a:t>
            </a:r>
            <a:endParaRPr/>
          </a:p>
        </p:txBody>
      </p:sp>
      <p:pic>
        <p:nvPicPr>
          <p:cNvPr descr="image.png" id="271" name="Google Shape;27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747837"/>
            <a:ext cx="5314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7"/>
          <p:cNvSpPr txBox="1"/>
          <p:nvPr/>
        </p:nvSpPr>
        <p:spPr>
          <a:xfrm>
            <a:off x="904875" y="2967037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Gestión de Historial: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Registro de cada cambio permitiendo revertir a estados anteriores estables.</a:t>
            </a:r>
            <a:endParaRPr/>
          </a:p>
        </p:txBody>
      </p:sp>
      <p:sp>
        <p:nvSpPr>
          <p:cNvPr id="273" name="Google Shape;273;p27"/>
          <p:cNvSpPr txBox="1"/>
          <p:nvPr/>
        </p:nvSpPr>
        <p:spPr>
          <a:xfrm>
            <a:off x="904875" y="3681412"/>
            <a:ext cx="50007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Control </a:t>
            </a: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Por Fecha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Versionado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mixto con uso secuencia ya que este tipo de control de versiones es incremental,  La elección fue a raíz del registro 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más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simple y ordenado sobre cada avance del prototipado</a:t>
            </a:r>
            <a:endParaRPr/>
          </a:p>
        </p:txBody>
      </p:sp>
      <p:sp>
        <p:nvSpPr>
          <p:cNvPr id="274" name="Google Shape;274;p27"/>
          <p:cNvSpPr txBox="1"/>
          <p:nvPr/>
        </p:nvSpPr>
        <p:spPr>
          <a:xfrm>
            <a:off x="904875" y="5094175"/>
            <a:ext cx="5000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Backups Automatizados: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Copias de seguridad periódicas de la base de datos PostgreSQL.</a:t>
            </a:r>
            <a:endParaRPr/>
          </a:p>
        </p:txBody>
      </p:sp>
      <p:sp>
        <p:nvSpPr>
          <p:cNvPr id="275" name="Google Shape;275;p27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Estrategia de Versionamiento</a:t>
            </a:r>
            <a:endParaRPr/>
          </a:p>
        </p:txBody>
      </p:sp>
      <p:sp>
        <p:nvSpPr>
          <p:cNvPr id="276" name="Google Shape;276;p2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225" y="2371550"/>
            <a:ext cx="2427625" cy="258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8"/>
          <p:cNvPicPr preferRelativeResize="0"/>
          <p:nvPr/>
        </p:nvPicPr>
        <p:blipFill rotWithShape="1">
          <a:blip r:embed="rId4">
            <a:alphaModFix/>
          </a:blip>
          <a:srcRect b="0" l="0" r="28678" t="27959"/>
          <a:stretch/>
        </p:blipFill>
        <p:spPr>
          <a:xfrm>
            <a:off x="3149725" y="2403098"/>
            <a:ext cx="2513500" cy="258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8"/>
          <p:cNvPicPr preferRelativeResize="0"/>
          <p:nvPr/>
        </p:nvPicPr>
        <p:blipFill rotWithShape="1">
          <a:blip r:embed="rId4">
            <a:alphaModFix/>
          </a:blip>
          <a:srcRect b="0" l="0" r="28678" t="27959"/>
          <a:stretch/>
        </p:blipFill>
        <p:spPr>
          <a:xfrm>
            <a:off x="5974025" y="2457448"/>
            <a:ext cx="2513500" cy="2583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8"/>
          <p:cNvSpPr txBox="1"/>
          <p:nvPr/>
        </p:nvSpPr>
        <p:spPr>
          <a:xfrm>
            <a:off x="315775" y="2530363"/>
            <a:ext cx="308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Modularidad</a:t>
            </a:r>
            <a:endParaRPr/>
          </a:p>
        </p:txBody>
      </p:sp>
      <p:sp>
        <p:nvSpPr>
          <p:cNvPr id="286" name="Google Shape;286;p28"/>
          <p:cNvSpPr txBox="1"/>
          <p:nvPr/>
        </p:nvSpPr>
        <p:spPr>
          <a:xfrm>
            <a:off x="315775" y="2923950"/>
            <a:ext cx="23424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División en paquetes independientes (Gestión, Finanzas, Reportes) para facilitar el mantenimiento.</a:t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3149725" y="2457450"/>
            <a:ext cx="308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Cohesion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3192675" y="2923952"/>
            <a:ext cx="2427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AFFDE"/>
                </a:solidFill>
              </a:rPr>
              <a:t>Para la </a:t>
            </a:r>
            <a:r>
              <a:rPr lang="en-US">
                <a:solidFill>
                  <a:srgbClr val="DAFFDE"/>
                </a:solidFill>
              </a:rPr>
              <a:t>gestión</a:t>
            </a:r>
            <a:r>
              <a:rPr lang="en-US">
                <a:solidFill>
                  <a:srgbClr val="DAFFDE"/>
                </a:solidFill>
              </a:rPr>
              <a:t> de usuarios y la </a:t>
            </a:r>
            <a:r>
              <a:rPr lang="en-US">
                <a:solidFill>
                  <a:srgbClr val="DAFFDE"/>
                </a:solidFill>
              </a:rPr>
              <a:t>adición</a:t>
            </a:r>
            <a:r>
              <a:rPr lang="en-US">
                <a:solidFill>
                  <a:srgbClr val="DAFFDE"/>
                </a:solidFill>
              </a:rPr>
              <a:t> de estos se </a:t>
            </a:r>
            <a:r>
              <a:rPr lang="en-US">
                <a:solidFill>
                  <a:srgbClr val="DAFFDE"/>
                </a:solidFill>
              </a:rPr>
              <a:t>tendrá</a:t>
            </a:r>
            <a:r>
              <a:rPr lang="en-US">
                <a:solidFill>
                  <a:srgbClr val="DAFFDE"/>
                </a:solidFill>
              </a:rPr>
              <a:t> que tener un rol de administrador.</a:t>
            </a:r>
            <a:endParaRPr>
              <a:solidFill>
                <a:srgbClr val="DAFFDE"/>
              </a:solidFill>
            </a:endParaRPr>
          </a:p>
        </p:txBody>
      </p:sp>
      <p:sp>
        <p:nvSpPr>
          <p:cNvPr id="289" name="Google Shape;289;p28"/>
          <p:cNvSpPr txBox="1"/>
          <p:nvPr/>
        </p:nvSpPr>
        <p:spPr>
          <a:xfrm>
            <a:off x="5974025" y="2530000"/>
            <a:ext cx="308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Encapsulamiento</a:t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6047375" y="2923950"/>
            <a:ext cx="2427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Control estricto de acceso a la información según los roles de la comunidad.</a:t>
            </a:r>
            <a:endParaRPr/>
          </a:p>
        </p:txBody>
      </p:sp>
      <p:pic>
        <p:nvPicPr>
          <p:cNvPr descr="image.png" id="291" name="Google Shape;29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5288" y="190057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8"/>
          <p:cNvPicPr preferRelativeResize="0"/>
          <p:nvPr/>
        </p:nvPicPr>
        <p:blipFill rotWithShape="1">
          <a:blip r:embed="rId6">
            <a:alphaModFix/>
          </a:blip>
          <a:srcRect b="22320" l="0" r="0" t="-22320"/>
          <a:stretch/>
        </p:blipFill>
        <p:spPr>
          <a:xfrm>
            <a:off x="3251225" y="1804917"/>
            <a:ext cx="476250" cy="504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54775" y="19905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8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Fundamentos del Diseño</a:t>
            </a:r>
            <a:endParaRPr/>
          </a:p>
        </p:txBody>
      </p:sp>
      <p:sp>
        <p:nvSpPr>
          <p:cNvPr id="295" name="Google Shape;295;p2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6" name="Google Shape;296;p28"/>
          <p:cNvPicPr preferRelativeResize="0"/>
          <p:nvPr/>
        </p:nvPicPr>
        <p:blipFill rotWithShape="1">
          <a:blip r:embed="rId4">
            <a:alphaModFix/>
          </a:blip>
          <a:srcRect b="0" l="0" r="28678" t="27959"/>
          <a:stretch/>
        </p:blipFill>
        <p:spPr>
          <a:xfrm>
            <a:off x="8859125" y="2457448"/>
            <a:ext cx="2513500" cy="258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21625" y="19905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8"/>
          <p:cNvSpPr txBox="1"/>
          <p:nvPr/>
        </p:nvSpPr>
        <p:spPr>
          <a:xfrm>
            <a:off x="8859125" y="2530375"/>
            <a:ext cx="308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Abstraccion</a:t>
            </a:r>
            <a:endParaRPr/>
          </a:p>
        </p:txBody>
      </p:sp>
      <p:sp>
        <p:nvSpPr>
          <p:cNvPr id="299" name="Google Shape;299;p28"/>
          <p:cNvSpPr txBox="1"/>
          <p:nvPr/>
        </p:nvSpPr>
        <p:spPr>
          <a:xfrm>
            <a:off x="8902075" y="3012300"/>
            <a:ext cx="2342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DAFFDE"/>
                </a:solidFill>
              </a:rPr>
              <a:t>Consiste en representar únicamente las características relevantes de una entidad, ocultando detalles innecesarios.</a:t>
            </a:r>
            <a:endParaRPr sz="1900">
              <a:solidFill>
                <a:srgbClr val="DAFFDE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9"/>
          <p:cNvSpPr txBox="1"/>
          <p:nvPr/>
        </p:nvSpPr>
        <p:spPr>
          <a:xfrm>
            <a:off x="4448175" y="4152900"/>
            <a:ext cx="3295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Herrera | Flores | Morales</a:t>
            </a:r>
            <a:endParaRPr/>
          </a:p>
        </p:txBody>
      </p:sp>
      <p:sp>
        <p:nvSpPr>
          <p:cNvPr id="306" name="Google Shape;306;p29"/>
          <p:cNvSpPr txBox="1"/>
          <p:nvPr/>
        </p:nvSpPr>
        <p:spPr>
          <a:xfrm>
            <a:off x="4448175" y="4438650"/>
            <a:ext cx="3295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Ingeniería de Software - Duoc UC 2026</a:t>
            </a:r>
            <a:endParaRPr/>
          </a:p>
        </p:txBody>
      </p:sp>
      <p:sp>
        <p:nvSpPr>
          <p:cNvPr id="307" name="Google Shape;307;p29"/>
          <p:cNvSpPr txBox="1"/>
          <p:nvPr/>
        </p:nvSpPr>
        <p:spPr>
          <a:xfrm>
            <a:off x="3850644" y="1228475"/>
            <a:ext cx="4490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Gracias por su atencion</a:t>
            </a:r>
            <a:endParaRPr/>
          </a:p>
        </p:txBody>
      </p:sp>
      <p:sp>
        <p:nvSpPr>
          <p:cNvPr id="308" name="Google Shape;308;p29"/>
          <p:cNvSpPr txBox="1"/>
          <p:nvPr/>
        </p:nvSpPr>
        <p:spPr>
          <a:xfrm>
            <a:off x="2886075" y="3238500"/>
            <a:ext cx="6419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Sistema El Mirador: Robustez, Calidad y Satisfacción del Usuario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